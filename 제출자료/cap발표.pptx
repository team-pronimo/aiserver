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[0:00~0:15] 인사. 한 줄 정의 — 발음 분석 결과가 실제 교구를 움직이는 AIoT 영어 학습 교실입니다.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[0:15~0:35] 목차. 6개 섹션 흐름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[0:35] 섹션 1 시작. 발음 학습의 구조적 한계부터 짚겠습니다.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[1:00~1:20] /r/ /l/ /θ/ /ð/ /f/ /v/는 한국어에 없는 소리입니다. 차이는 구강 내부 움직임에서 만들어지는데 학습자는 그걸 볼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[1:20~1:40] 기존 서비스는 원인 설명·구강 가시화·교정 가이드가 없습니다. 우리는 구강 동작 단위로 분석하고 3D로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[1:40~2:00] Pronimo의 세 축 — AI 발음 분석, 3D 발음 시각화, 게이미피케이션.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[2:05~2:25] 3D까지 왔지만 결과는 여전히 화면 안에 있었습니다. SEE·ANALYZE·ACT 중 ACT가 이번에 새로 붙인 IoT입니다.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[2:25~2:40] 기술 목표는 음성·입모양·3D·IoT 네 모듈의 통합, 산업 목표는 특수교육 현장에서의 검증입니다.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[3:00~3:15] 대표 시연 단어는 LIGHT입니다. 정답을 먼저 고르고, 3D 입모양을 본 뒤 따라 발음하면, 통과했을 때 교실 조명이 실제로 켜집니다. 실패해도 학습이 멈추지 않도록 재도전 경로를 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[2:55] 섹션 2 시작. 시스템이 어떤 순서로 동작하는지 전 과정을 따라가겠습니다.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[3:25] 전체 아키텍처. React·Three.js 프론트, Spring Boot 백엔드, FastAPI AI 워커, MySQL·S3, 외부 API는 Azure·Supertone·OpenAI.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[3:35] End-to-End 파이프라인 한 장 요약. 음성 트랙과 시각 트랙을 병렬로 돌려 Audio-First 0.75:0.25로 융합합니다.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[3:45] ① 음성 분석. 학생이 발음할 정답 단어 hello를 referenceText 인자로 넘겨 Azure Pronunciation Assessment를 호출합니다. Granularity를 Phoneme으로 주기 때문에 단어가 아니라 음소 단위로 결과가 내려옵니다. 오른쪽이 hello의 첫 음소 /h/에 대한 실제 응답이고, 여기 Offset이 뒤의 프레임 정렬 기준이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[3:55] 음성 점수는 세 가지를 합칩니다 — 정확도 70, 유창성 15, 완성도 15. 두 가지 원칙만 기억하시면 됩니다. 길게 발음한 음소일수록 크게 반영되고, 아예 빼먹은 음소는 0점입니다.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[4:05] ③ 입력. MediaRecorder로 WAV, MediaPipe로 478 랜드마크·52 blendshape → 26·13개로 압축. 원본 영상은 전송하지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[4:15] ④ 전달. WAV는 S3에 올리고 presigned URL만 AI 서버로 넘깁니다. AI 서버는 S3 자격증명을 갖지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[4:25] ⑤ 프레임 → 17 특징. MediaPipe 26 landmark와 13 blendshape를 턱 벌어짐·입술 오므림·혀 돌출 등 17개 표준 특징으로 변환합니다. (시간 부족 시 생략 가능)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[4:35] ⑥ Phoneme → Viseme 매핑. 소리인 음소를 눈에 보이는 입모양 단위로 바꿔야 카메라 영상과 비교할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[4:45] ⑦ 시각 정렬. Azure가 준 음소 타이밍을 ±80ms 확장한 윈도우로 웹캠 프레임을 잘라 매칭합니다.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[4:55] ⑧ 시각 채점 4가지 방식 — pattern / gaussian / absolute / skip. 정면에서 볼 수 없는 음소는 skip으로 자동 제외합니다.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[5:05] ⑨ 실제 예시 /p/. 측정값과 기준값을 비교해 0~1 점수를 냅니다. (시간 부족 시 생략 가능)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[5:15] ⑩ 정답 자료는 3D Talking Head 기준값입니다. ARKit blendshape 기반 표준 발음 프로파일을 target으로 삼아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[5:25] ⑪ 융합. Audio 0.75 + Visual 0.25로 최종 점수와 band를 만들고 JSON으로 반환합니다.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[5:35] ⑫ 분석 텍스트 템플릿. 임계값 0.7 미만 중 가장 낮은 음소를 골라 '음성:…/입모양:…' 2줄 한국어 피드백을 규칙 기반으로 생성합니다.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[5:45] ⑬ AI 피드백 프롬프트. GPT-4o-mini로 mild·spicy 두 캐릭터 문장을 생성합니다. 제약 조건을 프롬프트에 명시했습니다.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[5:55] ⑭ 음성 합성. Supertone TTS로 캐릭터 음성을 만들고, LLM과 TTS를 asyncio로 병렬 호출해 응답 시간을 절반으로 줄였습니다.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[6:05] ⑮ 3D 구강 모델. Blender에서 viseme별 Shape Key를 만들고 GLB로 내보내 Three.js가 morphTarget으로 제어합니다.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[6:15] 결국 이 슬라이드의 요지는 하나입니다 — 발음이 바뀔 때 viseme을 그냥 갈아끼우면 입이 순간이동하듯 끊깁니다. 그래서 두 입모양의 가중치를 smoothstep 곡선으로 서서히 넘겨줘서, 겹치며 이어지도록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[6:25] 기술 설명 요약 — 음성·입모양·3D가 하나의 시간축에서 일치해야 이 시스템이 성립합니다.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[6:30] 섹션 4. 지금까지가 분석이었다면, 여기부터는 그 결과를 실물로 꺼내는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[6:32~6:45] MQTT를 쓴 이유 — 서버가 ESP32의 IP를 몰라도 되고, 교실 와이파이에서 IP가 바뀌어도 브로커 주소 하나면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[6:35~6:55] IoT의 핵심 슬라이드. 백엔드가 명령 코드 한 줄을 브로커에 올리면, 구독 중이던 ESP32가 받아 GPIO를 바꾸고, 결과를 상태 토픽으로 되돌려줍니다.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[6:55~7:15] 무조건 켜지지 않습니다. 다섯 조건을 모두 통과해야 하고, 실패하면 이유를 코드로 돌려줍니다.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[7:15~ 영상 3분] 재생 전 한 문장으로 무엇을 볼지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[7:20] 섹션 4. 저희가 직접 설계하고 구현한 핵심 성과 네 가지를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[7:25~8:00] 네 가지 중 특히 2번(측정 한계의 정량화)과 4번(AI에서 실물까지 연결)을 강조. 못 보는 것을 억지로 채점하지 않은 판단이 점수 신뢰도를 지켰습니다.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[8:25] 마지막 섹션. 기대 효과와 확장 계획으로 마무리하겠습니다.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[8:30~8:55] 업무 효율화 · 사용자 편의성 · 비용 절감 · 교육 현장 활용성 · 사업화 가능성 · 다국어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[8:55~9:40] 확산 → 사업화 → 향후 계획. 마지막 한 줄이 차별점의 요약입니다.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[9:40~10:00] 마무리. 이후 질의응답 7분.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image" Target="../media/image-38-4.jpg"/><Relationship Id="rId5" Type="http://schemas.openxmlformats.org/officeDocument/2006/relationships/image" Target="../media/image-38-5.jpg"/><Relationship Id="rId6" Type="http://schemas.openxmlformats.org/officeDocument/2006/relationships/image" Target="../media/image-38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463040"/>
            <a:ext cx="2148840" cy="402336"/>
          </a:xfrm>
          <a:prstGeom prst="roundRect">
            <a:avLst>
              <a:gd name="adj" fmla="val 18182"/>
            </a:avLst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In-Jeju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8795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8795" y="287121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AIoT 영어 발음 체험 교실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8795" y="371246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구강 시각화와 AI 발음 분석에 IoT 교구를 연결해, 발음 결과가 교실의 사물을 움직이게 합니다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18795" y="4480560"/>
            <a:ext cx="2926080" cy="20117"/>
          </a:xfrm>
          <a:prstGeom prst="rect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8795" y="47183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세종대학교 컴퓨터공학과   ·   5조  취업시켜조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8795" y="52669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서버 · 기획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8795" y="55961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조경태</a:t>
            </a:r>
            <a:pPr indent="0" marL="0">
              <a:buNone/>
            </a:pPr>
            <a:r>
              <a:rPr lang="en-US" sz="11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팀장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87775" y="5285232"/>
            <a:ext cx="12802" cy="713232"/>
          </a:xfrm>
          <a:prstGeom prst="rect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3515" y="52669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7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93515" y="55961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권혁준</a:t>
            </a:r>
            <a:pPr indent="0" marL="0">
              <a:buNone/>
            </a:pPr>
            <a:r>
              <a:rPr lang="en-US" sz="15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정지태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62495" y="5285232"/>
            <a:ext cx="12802" cy="713232"/>
          </a:xfrm>
          <a:prstGeom prst="rect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8235" y="52669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68235" y="55961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강형민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순서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10분 + 시연 영상 3분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목차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188720"/>
            <a:ext cx="11354105" cy="877824"/>
          </a:xfrm>
          <a:prstGeom prst="roundRect">
            <a:avLst>
              <a:gd name="adj" fmla="val 729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9691" y="14081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9691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24635" y="132588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설명 및 선정 이유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24635" y="16916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학습의 구조적 한계 · 기존 서비스 비교 · IoT 확장 이유 · 프로젝트 목표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8795" y="2176272"/>
            <a:ext cx="11354105" cy="877824"/>
          </a:xfrm>
          <a:prstGeom prst="roundRect">
            <a:avLst>
              <a:gd name="adj" fmla="val 729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691" y="2395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6D4DD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24635" y="231343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24635" y="267919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→ 전달 → 음성 → 시각 → 피드백 → 3D 전 과정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8795" y="3163824"/>
            <a:ext cx="11354105" cy="877824"/>
          </a:xfrm>
          <a:prstGeom prst="roundRect">
            <a:avLst>
              <a:gd name="adj" fmla="val 729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691" y="3383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24635" y="330098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구현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24635" y="366674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교구 연동 구조 · 웹 점수 → MQTT → ESP32 → 조명 점등 · 안전 설계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8795" y="4151376"/>
            <a:ext cx="11354105" cy="877824"/>
          </a:xfrm>
          <a:prstGeom prst="roundRect">
            <a:avLst>
              <a:gd name="adj" fmla="val 729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691" y="43708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24635" y="428853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및 성과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424635" y="465429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실사용자 검증 · 문제 해결 사례 · 기술적 성과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8795" y="5138928"/>
            <a:ext cx="11354105" cy="877824"/>
          </a:xfrm>
          <a:prstGeom prst="roundRect">
            <a:avLst>
              <a:gd name="adj" fmla="val 729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691" y="5358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24635" y="52760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424635" y="56418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· 확산 가능성 · 사업화 · 향후 계획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8795" y="6089904"/>
            <a:ext cx="113541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3단계 IoT 구현 직후 3분 시연 영상을 재생합니다.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설명 및 선정 이유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803904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발음인가 — 학습 구조의 한계에서 출발합니다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22096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2096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발음의 구조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9264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9264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서비스 한계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6432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6432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Pronimo의 방식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3600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360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확장 이유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1. 주제 설명 및 선정 이유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40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40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+ IoT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분석에 실물 반응을 더한 세 단계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1. 주제 설명 및 선정 이유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3632302" cy="3931920"/>
          </a:xfrm>
          <a:prstGeom prst="roundRect">
            <a:avLst>
              <a:gd name="adj" fmla="val 176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4555" y="1408176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555" y="140817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4555" y="2029968"/>
            <a:ext cx="29007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보여준다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84555" y="2651760"/>
            <a:ext cx="29007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발음의 혀 · 입술 위치를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구강 모델로 먼저 보여준다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4555" y="3822192"/>
            <a:ext cx="2900782" cy="18288"/>
          </a:xfrm>
          <a:prstGeom prst="rect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" y="3986784"/>
            <a:ext cx="29007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구강 시각화 · Viseme 입모양 분석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9697" y="1024128"/>
            <a:ext cx="3632302" cy="3931920"/>
          </a:xfrm>
          <a:prstGeom prst="roundRect">
            <a:avLst>
              <a:gd name="adj" fmla="val 176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457" y="1408176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457" y="140817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ANALYZE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45457" y="2029968"/>
            <a:ext cx="29007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진단한다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45457" y="2651760"/>
            <a:ext cx="29007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음성과 입모양을 함께 채점해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왜 틀렸는지 짚어준다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457" y="3822192"/>
            <a:ext cx="2900782" cy="18288"/>
          </a:xfrm>
          <a:prstGeom prst="rect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457" y="3986784"/>
            <a:ext cx="29007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37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융합 채점 · 취약 음소 자동 탐지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40598" y="1024128"/>
            <a:ext cx="3632302" cy="3931920"/>
          </a:xfrm>
          <a:prstGeom prst="roundRect">
            <a:avLst>
              <a:gd name="adj" fmla="val 176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6358" y="1408176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6358" y="140817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355580" y="1408176"/>
            <a:ext cx="1051560" cy="420624"/>
          </a:xfrm>
          <a:prstGeom prst="roundRect">
            <a:avLst>
              <a:gd name="adj" fmla="val 17391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55580" y="14081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확장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6358" y="2029968"/>
            <a:ext cx="29007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체감한다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506358" y="2651760"/>
            <a:ext cx="29007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통과하면 조명 · 문 · 자동차가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움직여 결과를 체감한다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06358" y="3822192"/>
            <a:ext cx="2900782" cy="18288"/>
          </a:xfrm>
          <a:prstGeom prst="rect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6358" y="3986784"/>
            <a:ext cx="29007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교구 실물 반응 · 5초 이내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8795" y="5138928"/>
            <a:ext cx="11354105" cy="1143000"/>
          </a:xfrm>
          <a:prstGeom prst="roundRect">
            <a:avLst>
              <a:gd name="adj" fmla="val 56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" y="5358384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" y="53583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배경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339035" y="5303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발음 학습의 한계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339035" y="56144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· 정오 판정 중심 · 화면과 소리에 편중 · 오류 원인을 이해하기 어려움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25235" y="53583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773875" y="5303520"/>
            <a:ext cx="4688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AIoT 영어 발음 체험 교실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73875" y="5614416"/>
            <a:ext cx="46881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· Viseme 발음 분석 + IoT 교구 결합 · 발음 결과가 조명 · 문 · 자동차의 실물 반응으로 · 단어의 의미를 시각 · 물리적으로 경험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목표 · 산업적 목표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1. 주제 설명 및 선정 이유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5494172" cy="5120640"/>
          </a:xfrm>
          <a:prstGeom prst="roundRect">
            <a:avLst>
              <a:gd name="adj" fmla="val 125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0275" y="1435608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" y="1435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목표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5995" y="2542032"/>
            <a:ext cx="146304" cy="146304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1755" y="2395728"/>
            <a:ext cx="42140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· 입모양 · 3D · IoT 제어를 하나의 시스템으로 통합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5995" y="3685032"/>
            <a:ext cx="146304" cy="146304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1755" y="3538728"/>
            <a:ext cx="42140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분석 결과에 ESP32 교구가 즉시 반응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5995" y="4828032"/>
            <a:ext cx="146304" cy="146304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1755" y="4681728"/>
            <a:ext cx="42140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대시보드에서 점수 · 취약 음소 관리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78728" y="1024128"/>
            <a:ext cx="5494172" cy="5120640"/>
          </a:xfrm>
          <a:prstGeom prst="roundRect">
            <a:avLst>
              <a:gd name="adj" fmla="val 125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0208" y="1435608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0208" y="1435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산업적 목표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35928" y="2542032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1688" y="2395728"/>
            <a:ext cx="42140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특수학교 · 특수학급용 체험형 영어 학습 보조 솔루션 검증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35928" y="3685032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1688" y="3538728"/>
            <a:ext cx="42140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분석 + 실물 교구를 결합한 차별화 교육 모델 제시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35928" y="4828032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1688" y="4681728"/>
            <a:ext cx="42140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교육기관별 콘텐츠 · 교구를 확장하는 스마트 교실 플랫폼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서비스 흐름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시연 단어 “LIGHT” — 발음이 통과되면 조명이 실제로 켜집니다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1. 주제 설명 및 선정 이유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2667076" cy="4206240"/>
          </a:xfrm>
          <a:prstGeom prst="roundRect">
            <a:avLst>
              <a:gd name="adj" fmla="val 240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795" y="1024128"/>
            <a:ext cx="2667076" cy="493776"/>
          </a:xfrm>
          <a:prstGeom prst="roundRect">
            <a:avLst>
              <a:gd name="adj" fmla="val 12963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8795" y="1353312"/>
            <a:ext cx="2667076" cy="164592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" y="1024128"/>
            <a:ext cx="26670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SEE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8795" y="1645920"/>
            <a:ext cx="2667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먼저 고르기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6539" y="3822192"/>
            <a:ext cx="21915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단어 · 그림과 함께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발음의 3D 입모양을 먼저 제시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85871" y="28529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4471" y="1024128"/>
            <a:ext cx="2667076" cy="4206240"/>
          </a:xfrm>
          <a:prstGeom prst="roundRect">
            <a:avLst>
              <a:gd name="adj" fmla="val 240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4471" y="1024128"/>
            <a:ext cx="2667076" cy="493776"/>
          </a:xfrm>
          <a:prstGeom prst="roundRect">
            <a:avLst>
              <a:gd name="adj" fmla="val 12963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471" y="1353312"/>
            <a:ext cx="2667076" cy="16459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4471" y="1024128"/>
            <a:ext cx="26670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SPEAK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4471" y="1645920"/>
            <a:ext cx="2667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7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발음하기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52215" y="3822192"/>
            <a:ext cx="21915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음성(WAV)과 입모양(MediaPipe)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동시에 수집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81548" y="28529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0148" y="1024128"/>
            <a:ext cx="2667076" cy="4206240"/>
          </a:xfrm>
          <a:prstGeom prst="roundRect">
            <a:avLst>
              <a:gd name="adj" fmla="val 240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024128"/>
            <a:ext cx="2667076" cy="493776"/>
          </a:xfrm>
          <a:prstGeom prst="roundRect">
            <a:avLst>
              <a:gd name="adj" fmla="val 12963"/>
            </a:avLst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0148" y="1353312"/>
            <a:ext cx="2667076" cy="164592"/>
          </a:xfrm>
          <a:prstGeom prst="rect">
            <a:avLst/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0148" y="1024128"/>
            <a:ext cx="26670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ANALYZE · DECIDE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0148" y="1645920"/>
            <a:ext cx="2667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분석 · 판정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7892" y="3822192"/>
            <a:ext cx="21915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음소별 융합 채점 후 학생별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기준으로 통과 여부 판정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877224" y="28529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05824" y="1024128"/>
            <a:ext cx="2667076" cy="4206240"/>
          </a:xfrm>
          <a:prstGeom prst="roundRect">
            <a:avLst>
              <a:gd name="adj" fmla="val 240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05824" y="1024128"/>
            <a:ext cx="2667076" cy="493776"/>
          </a:xfrm>
          <a:prstGeom prst="roundRect">
            <a:avLst>
              <a:gd name="adj" fmla="val 1296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05824" y="1353312"/>
            <a:ext cx="2667076" cy="1645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05824" y="1024128"/>
            <a:ext cx="26670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ACT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05824" y="1645920"/>
            <a:ext cx="2667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조명이 켜짐!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43568" y="3822192"/>
            <a:ext cx="21915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명령 → ESP32가 LED 점등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단어의 의미를 몸으로 경험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93115" y="2084832"/>
            <a:ext cx="2118436" cy="1572768"/>
          </a:xfrm>
          <a:prstGeom prst="roundRect">
            <a:avLst>
              <a:gd name="adj" fmla="val 4651"/>
            </a:avLst>
          </a:prstGeom>
          <a:solidFill>
            <a:srgbClr val="05070C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" y="2340864"/>
            <a:ext cx="2118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LIGHT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93115" y="2999232"/>
            <a:ext cx="2118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3D 입모양 먼저 제시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98519" y="2231136"/>
            <a:ext cx="1898980" cy="603504"/>
          </a:xfrm>
          <a:prstGeom prst="roundRect">
            <a:avLst>
              <a:gd name="adj" fmla="val 24242"/>
            </a:avLst>
          </a:prstGeom>
          <a:solidFill>
            <a:srgbClr val="1E2436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8519" y="2231136"/>
            <a:ext cx="18989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“LIGHT!”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3643655" y="3017520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43655" y="30175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7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92244" y="3017520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92244" y="30175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7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39332" y="2084832"/>
            <a:ext cx="614705" cy="365760"/>
          </a:xfrm>
          <a:prstGeom prst="roundRect">
            <a:avLst>
              <a:gd name="adj" fmla="val 20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9332" y="2084832"/>
            <a:ext cx="61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/l/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263765" y="2084832"/>
            <a:ext cx="614705" cy="365760"/>
          </a:xfrm>
          <a:prstGeom prst="roundRect">
            <a:avLst>
              <a:gd name="adj" fmla="val 20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3765" y="2084832"/>
            <a:ext cx="61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/aɪ/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88198" y="2084832"/>
            <a:ext cx="614705" cy="365760"/>
          </a:xfrm>
          <a:prstGeom prst="roundRect">
            <a:avLst>
              <a:gd name="adj" fmla="val 20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88198" y="2084832"/>
            <a:ext cx="61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/t/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502756" y="2578608"/>
            <a:ext cx="2081860" cy="566928"/>
          </a:xfrm>
          <a:prstGeom prst="roundRect">
            <a:avLst>
              <a:gd name="adj" fmla="val 11290"/>
            </a:avLst>
          </a:prstGeom>
          <a:solidFill>
            <a:srgbClr val="1E243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2756" y="2578608"/>
            <a:ext cx="20818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8.4 · 입모양 7.6
</a:t>
            </a:r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8.2 / 10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594196" y="3255264"/>
            <a:ext cx="1898980" cy="365760"/>
          </a:xfrm>
          <a:prstGeom prst="roundRect">
            <a:avLst>
              <a:gd name="adj" fmla="val 2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94196" y="3255264"/>
            <a:ext cx="189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기준 통과 ✓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055314" y="2176272"/>
            <a:ext cx="768096" cy="768096"/>
          </a:xfrm>
          <a:prstGeom prst="ellipse">
            <a:avLst/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56482" y="2907792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6B5A2E"/>
          </a:solidFill>
          <a:ln w="12700">
            <a:solidFill>
              <a:srgbClr val="6B5A2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35008" y="3255264"/>
            <a:ext cx="2008708" cy="365760"/>
          </a:xfrm>
          <a:prstGeom prst="roundRect">
            <a:avLst>
              <a:gd name="adj" fmla="val 20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35008" y="3255264"/>
            <a:ext cx="2008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· RGB LED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8795" y="5440680"/>
            <a:ext cx="11354105" cy="822960"/>
          </a:xfrm>
          <a:prstGeom prst="roundRect">
            <a:avLst>
              <a:gd name="adj" fmla="val 7778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7979" y="5440680"/>
            <a:ext cx="106957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51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미달 시 (실패 안전 모드)   </a:t>
            </a:r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조명을 끄고 끝내지 않습니다 — 정답 3D 입모양을 다시 보여주고 즉시 재도전, 반복 실패 시 교사 도움 / 체험 모드로 전환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803904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→ 전달 → 음성 → 시각 → 피드백 → 3D, 전 과정을 순서대로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22096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2096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· 전달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9264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9264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분석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6432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6432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채점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3600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360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· 3D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40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40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40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음성 분석 — Azure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Audio · Azure Pronunciation Assessment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2971800" cy="1517904"/>
          </a:xfrm>
          <a:prstGeom prst="roundRect">
            <a:avLst>
              <a:gd name="adj" fmla="val 4217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9691" y="118872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입력 단어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9691" y="149961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“hello”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9691" y="208483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발음할 정답 단어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90595" y="1554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02075" y="1024128"/>
            <a:ext cx="4800600" cy="1517904"/>
          </a:xfrm>
          <a:prstGeom prst="roundRect">
            <a:avLst>
              <a:gd name="adj" fmla="val 4217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2971" y="1188720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Azure API 호출 인자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2971" y="1517904"/>
            <a:ext cx="4178808" cy="877824"/>
          </a:xfrm>
          <a:prstGeom prst="roundRect">
            <a:avLst>
              <a:gd name="adj" fmla="val 6250"/>
            </a:avLst>
          </a:prstGeom>
          <a:solidFill>
            <a:srgbClr val="05070C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9275" y="1572768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referenceText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C8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GradingSystem = HundredMark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Granularity   = Phoneme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02675" y="1554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14155" y="1024128"/>
            <a:ext cx="2697480" cy="1517904"/>
          </a:xfrm>
          <a:prstGeom prst="roundRect">
            <a:avLst>
              <a:gd name="adj" fmla="val 4217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5051" y="118872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응답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5051" y="1481328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음소 단위 채점 결과</a:t>
            </a:r>
            <a:endParaRPr lang="en-US" sz="1500" dirty="0"/>
          </a:p>
        </p:txBody>
      </p:sp>
      <p:pic>
        <p:nvPicPr>
          <p:cNvPr id="22" name="Image 0" descr="/home/claude/work/media/azur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5051" y="1929144"/>
            <a:ext cx="2075688" cy="40281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18795" y="2743200"/>
            <a:ext cx="5257800" cy="3429000"/>
          </a:xfrm>
          <a:prstGeom prst="roundRect">
            <a:avLst>
              <a:gd name="adj" fmla="val 1867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7979" y="294436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응답에서 무엇을 얻나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02843" y="3547872"/>
            <a:ext cx="118872" cy="118872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3739" y="3438144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음소 단위 평가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13739" y="3739896"/>
            <a:ext cx="4178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 → HH · AH · L · OW 각각 채점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02843" y="4206240"/>
            <a:ext cx="118872" cy="118872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13739" y="409651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Offset · Duration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13739" y="4398264"/>
            <a:ext cx="4178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100ns 단위 → ÷10000 → ms (시간 정렬에 사용)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2843" y="4864608"/>
            <a:ext cx="118872" cy="118872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13739" y="475488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AccuracyScore (0~100)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13739" y="5056632"/>
            <a:ext cx="4178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음소별 정확도 + ErrorType(누락 · 대치)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02843" y="5522976"/>
            <a:ext cx="118872" cy="118872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13739" y="541324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NBestPhonemes Top-5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113739" y="5715000"/>
            <a:ext cx="4178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잘못 들렸는지 후보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042355" y="2743200"/>
            <a:ext cx="5730545" cy="3429000"/>
          </a:xfrm>
          <a:prstGeom prst="roundRect">
            <a:avLst>
              <a:gd name="adj" fmla="val 1867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71539" y="2944368"/>
            <a:ext cx="50721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Azure 응답 (phoneme) — hello의 첫 음소 /h/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371539" y="3364992"/>
            <a:ext cx="5072177" cy="2578608"/>
          </a:xfrm>
          <a:prstGeom prst="roundRect">
            <a:avLst>
              <a:gd name="adj" fmla="val 2128"/>
            </a:avLst>
          </a:prstGeom>
          <a:solidFill>
            <a:srgbClr val="05070C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54419" y="3474720"/>
            <a:ext cx="4706417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"Phonemes": [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"Phoneme": "h",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"PronunciationAssessment": {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"AccuracyScore": 98.0,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"NBestPhonemes": [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{"Phoneme":"h",  "Score":100.0},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{"Phoneme":"ow", "Score": 52.0},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{"Phoneme":"ah", "Score": 35.0} ] },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"Offset":   7500000,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"Duration": 3500000 },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음성 점수는 어떻게 만드나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Audio Scoring · 세 가지를 합쳐 하나의 점수로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3632302" cy="2103120"/>
          </a:xfrm>
          <a:prstGeom prst="roundRect">
            <a:avLst>
              <a:gd name="adj" fmla="val 304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2843" y="1298448"/>
            <a:ext cx="28642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pPr indent="0" marL="0">
              <a:buNone/>
            </a:pPr>
            <a:r>
              <a:rPr lang="en-US" sz="20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02843" y="2121408"/>
            <a:ext cx="28642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2843" y="2487168"/>
            <a:ext cx="28642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2843" y="2761488"/>
            <a:ext cx="2864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음소를 얼마나 정확히 발음했는가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79697" y="1024128"/>
            <a:ext cx="3632302" cy="2103120"/>
          </a:xfrm>
          <a:prstGeom prst="roundRect">
            <a:avLst>
              <a:gd name="adj" fmla="val 304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745" y="1298448"/>
            <a:ext cx="28642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37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pPr indent="0" marL="0">
              <a:buNone/>
            </a:pPr>
            <a:r>
              <a:rPr lang="en-US" sz="2000" b="1" dirty="0">
                <a:solidFill>
                  <a:srgbClr val="A37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663745" y="2121408"/>
            <a:ext cx="28642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유창성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63745" y="2487168"/>
            <a:ext cx="28642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Fluency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745" y="2761488"/>
            <a:ext cx="2864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끊김 없이 자연스럽게 이어졌는가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40598" y="1024128"/>
            <a:ext cx="3632302" cy="2103120"/>
          </a:xfrm>
          <a:prstGeom prst="roundRect">
            <a:avLst>
              <a:gd name="adj" fmla="val 304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24646" y="1298448"/>
            <a:ext cx="28642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6D4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pPr indent="0" marL="0">
              <a:buNone/>
            </a:pPr>
            <a:r>
              <a:rPr lang="en-US" sz="2000" b="1" dirty="0">
                <a:solidFill>
                  <a:srgbClr val="56D4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524646" y="2121408"/>
            <a:ext cx="28642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완성도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24646" y="2487168"/>
            <a:ext cx="28642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24646" y="2761488"/>
            <a:ext cx="2864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단어를 끝까지 다 발음했는가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8795" y="3401568"/>
            <a:ext cx="7893009" cy="457200"/>
          </a:xfrm>
          <a:prstGeom prst="roundRect">
            <a:avLst>
              <a:gd name="adj" fmla="val 12000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6669" y="3401568"/>
            <a:ext cx="1648252" cy="457200"/>
          </a:xfrm>
          <a:prstGeom prst="roundRect">
            <a:avLst>
              <a:gd name="adj" fmla="val 12000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69784" y="3401568"/>
            <a:ext cx="1648252" cy="457200"/>
          </a:xfrm>
          <a:prstGeom prst="roundRect">
            <a:avLst>
              <a:gd name="adj" fmla="val 12000"/>
            </a:avLst>
          </a:prstGeom>
          <a:solidFill>
            <a:srgbClr val="56D4DD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8795" y="4041648"/>
            <a:ext cx="11354105" cy="960120"/>
          </a:xfrm>
          <a:prstGeom prst="roundRect">
            <a:avLst>
              <a:gd name="adj" fmla="val 6667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" y="4041648"/>
            <a:ext cx="108054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음성 점수  =  </a:t>
            </a:r>
            <a:pPr algn="ctr" indent="0" marL="0">
              <a:buNone/>
            </a:pPr>
            <a:r>
              <a:rPr lang="en-US" sz="19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0.70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× 정확도(길이 가중 평균)  +  </a:t>
            </a:r>
            <a:pPr algn="ctr" indent="0" marL="0">
              <a:buNone/>
            </a:pPr>
            <a:r>
              <a:rPr lang="en-US" sz="1900" b="1" dirty="0">
                <a:solidFill>
                  <a:srgbClr val="A371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0.15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× 유창성  +  </a:t>
            </a:r>
            <a:pPr algn="ctr" indent="0" marL="0">
              <a:buNone/>
            </a:pPr>
            <a:r>
              <a:rPr lang="en-US" sz="1900" b="1" dirty="0">
                <a:solidFill>
                  <a:srgbClr val="56D4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0.15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× 완성도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18795" y="5175504"/>
            <a:ext cx="5471312" cy="1097280"/>
          </a:xfrm>
          <a:prstGeom prst="roundRect">
            <a:avLst>
              <a:gd name="adj" fmla="val 58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4555" y="534009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60043" y="5321808"/>
            <a:ext cx="4264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길이로 가중 평균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4555" y="5705856"/>
            <a:ext cx="4739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스친 음소보다 길게 발음한 음소가 더 크게 반영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1588" y="5175504"/>
            <a:ext cx="5471312" cy="1097280"/>
          </a:xfrm>
          <a:prstGeom prst="roundRect">
            <a:avLst>
              <a:gd name="adj" fmla="val 58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67348" y="534009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67348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42836" y="5321808"/>
            <a:ext cx="4264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누락은 0점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67348" y="5705856"/>
            <a:ext cx="4739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발음하지 않고 넘어간 음소는 정확도를 0으로 처리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40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40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40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40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40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40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40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40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40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40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40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40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40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⑯ 립싱크는 이렇게 움직인다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Shape-Key Lip-Sync · 발음이 바뀔 때 입모양을 부드럽게 잇는다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11354105" cy="786384"/>
          </a:xfrm>
          <a:prstGeom prst="roundRect">
            <a:avLst>
              <a:gd name="adj" fmla="val 814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4555" y="1024128"/>
            <a:ext cx="1062258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음소가 바뀔 때마다 </a:t>
            </a:r>
            <a:pPr indent="0" marL="0">
              <a:buNone/>
            </a:pPr>
            <a:r>
              <a:rPr lang="en-US" sz="19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viseme을 갈아끼우지 않고</a:t>
            </a:r>
            <a:pPr indent="0" marL="0">
              <a:buNone/>
            </a:pPr>
            <a:r>
              <a:rPr lang="en-US" sz="1900" b="1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 두 입모양의 </a:t>
            </a:r>
            <a:pPr indent="0" marL="0">
              <a:buNone/>
            </a:pPr>
            <a:r>
              <a:rPr lang="en-US" sz="19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가중치를 서서히 넘겨준다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8795" y="1920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 “apple”  /æ/  →  /p/  →  /l/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8795" y="2359152"/>
            <a:ext cx="3632302" cy="1371600"/>
          </a:xfrm>
          <a:prstGeom prst="roundRect">
            <a:avLst>
              <a:gd name="adj" fmla="val 4667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" y="2578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" y="25786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v_AH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7595" y="2578608"/>
            <a:ext cx="1474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~ 260ms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7979" y="3108960"/>
            <a:ext cx="2973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크게 벌림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32809" y="2816352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279697" y="2359152"/>
            <a:ext cx="3632302" cy="1371600"/>
          </a:xfrm>
          <a:prstGeom prst="roundRect">
            <a:avLst>
              <a:gd name="adj" fmla="val 4667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881" y="2578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881" y="25786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v_MBP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08497" y="2578608"/>
            <a:ext cx="1474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 ~ 420ms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08881" y="3108960"/>
            <a:ext cx="2973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입술을 다뭄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93710" y="2816352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140598" y="2359152"/>
            <a:ext cx="3632302" cy="1371600"/>
          </a:xfrm>
          <a:prstGeom prst="roundRect">
            <a:avLst>
              <a:gd name="adj" fmla="val 4667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69782" y="2578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9782" y="25786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v_LNTD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9398" y="2578608"/>
            <a:ext cx="1474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8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420 ~ 640ms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69782" y="3108960"/>
            <a:ext cx="2973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혀끝을 잇몸에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8795" y="4041648"/>
            <a:ext cx="5471312" cy="2139696"/>
          </a:xfrm>
          <a:prstGeom prst="roundRect">
            <a:avLst>
              <a:gd name="adj" fmla="val 2991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2843" y="4261104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" y="4261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계단식 전환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2843" y="4718304"/>
            <a:ext cx="4703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갈아끼우면  </a:t>
            </a:r>
            <a:pPr indent="0" marL="0">
              <a:buNone/>
            </a:pPr>
            <a:r>
              <a:rPr lang="en-US" sz="2200" b="1" dirty="0">
                <a:solidFill>
                  <a:srgbClr val="F851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끊긴다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39419" y="537667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68603" y="5248656"/>
            <a:ext cx="4319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v_AH를 끄고 v_MBP를 켜는 순간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39419" y="5797296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68603" y="5669280"/>
            <a:ext cx="4319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입이 순간이동한 것처럼 보인다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301588" y="4041648"/>
            <a:ext cx="5471312" cy="2139696"/>
          </a:xfrm>
          <a:prstGeom prst="roundRect">
            <a:avLst>
              <a:gd name="adj" fmla="val 2991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85636" y="4261104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85636" y="4261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smoothstep 보간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85636" y="4718304"/>
            <a:ext cx="4703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가중치를 넘겨주면  </a:t>
            </a:r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부드럽다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722212" y="5376672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1396" y="5248656"/>
            <a:ext cx="4319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v_AH는 서서히 0으로, v_MBP는 서서히 1로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722212" y="5797296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1396" y="5669280"/>
            <a:ext cx="4319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입모양이 겹치며 자연스럽게 이어진다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media/ref_t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2. 시스템 구조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40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구현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803904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웹에서 받은 점수가 어떻게 실제 불빛이 되는가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22096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2096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교구 연동 구조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9264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9264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매핑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6432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6432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· ESP32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3600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360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설계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3. IoT 구현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/ 40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교구 연동 구조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분석 결과가 실제 교구의 움직임이 되는 AIoT 구조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3. IoT 구현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/ 40</a:t>
            </a:r>
            <a:endParaRPr lang="en-US" sz="1200" dirty="0"/>
          </a:p>
        </p:txBody>
      </p:sp>
      <p:pic>
        <p:nvPicPr>
          <p:cNvPr id="9" name="Image 0" descr="/home/claude/work/media/iot_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" y="1225824"/>
            <a:ext cx="7772400" cy="47172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02675" y="1572768"/>
            <a:ext cx="118872" cy="118872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13571" y="1463040"/>
            <a:ext cx="28593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엔진 (DECIDE)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913571" y="1764792"/>
            <a:ext cx="28593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통과 기준과 반복 횟수 관리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↔ 장치 명령 매핑 테이블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02675" y="2779776"/>
            <a:ext cx="118872" cy="118872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3571" y="2670048"/>
            <a:ext cx="28593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Broker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913571" y="2971800"/>
            <a:ext cx="28593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topic 기반 명령 전달과 상태 구독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서버와 ESP32를 느슨하게 연결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02675" y="3986784"/>
            <a:ext cx="118872" cy="118872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13571" y="3877056"/>
            <a:ext cx="28593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교구 존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913571" y="4178808"/>
            <a:ext cx="28593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조명 · 서보모터 모형 문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DC모터 자동차 (단어별 매핑)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602675" y="5193792"/>
            <a:ext cx="118872" cy="118872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13571" y="5084064"/>
            <a:ext cx="28593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설계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913571" y="5385816"/>
            <a:ext cx="28593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 생성문은 장치를 직접 제어하지 않음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allowlist 검증을 통과한 명령만 발행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점수 → MQTT → ESP32 → 조명 점등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결과가 실제 기기 동작으로 이어지는 최소 경로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3. IoT 구현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1701851" cy="1572768"/>
          </a:xfrm>
          <a:prstGeom prst="roundRect">
            <a:avLst>
              <a:gd name="adj" fmla="val 407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" y="12252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8251" y="1627632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웹에서 발음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8251" y="1956816"/>
            <a:ext cx="1262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 문장 선택 후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· 웹캠으로 제출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49246" y="1024128"/>
            <a:ext cx="1701851" cy="1572768"/>
          </a:xfrm>
          <a:prstGeom prst="roundRect">
            <a:avLst>
              <a:gd name="adj" fmla="val 407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8702" y="12252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8702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8702" y="1627632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8702" y="1956816"/>
            <a:ext cx="1262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· 입모양 · 종합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산출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79697" y="1024128"/>
            <a:ext cx="1701851" cy="1572768"/>
          </a:xfrm>
          <a:prstGeom prst="roundRect">
            <a:avLst>
              <a:gd name="adj" fmla="val 407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9153" y="12252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9153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99153" y="1627632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판정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99153" y="1956816"/>
            <a:ext cx="1262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선택 + 음성 점수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이상인지 확인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0148" y="1024128"/>
            <a:ext cx="1701851" cy="1572768"/>
          </a:xfrm>
          <a:prstGeom prst="roundRect">
            <a:avLst>
              <a:gd name="adj" fmla="val 407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9604" y="12252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56D4DD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9604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29604" y="1627632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발행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29604" y="1956816"/>
            <a:ext cx="1262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cmd 토픽으로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코드 한 줄 전송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40598" y="1024128"/>
            <a:ext cx="1701851" cy="1572768"/>
          </a:xfrm>
          <a:prstGeom prst="roundRect">
            <a:avLst>
              <a:gd name="adj" fmla="val 407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0054" y="12252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0054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60054" y="1627632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수신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60054" y="1956816"/>
            <a:ext cx="1262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Wi-Fi로 구독 중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GPIO 25 · 26 · 27 제어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71049" y="1024128"/>
            <a:ext cx="1701851" cy="1572768"/>
          </a:xfrm>
          <a:prstGeom prst="roundRect">
            <a:avLst>
              <a:gd name="adj" fmla="val 4070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0505" y="12252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90505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290505" y="1627632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점등 · 회신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290505" y="1956816"/>
            <a:ext cx="1262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RGB LED 동작 후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 토픽으로 결과 회신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8795" y="2889504"/>
            <a:ext cx="3632302" cy="3246120"/>
          </a:xfrm>
          <a:prstGeom prst="roundRect">
            <a:avLst>
              <a:gd name="adj" fmla="val 197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403" y="3108960"/>
            <a:ext cx="30470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영어 명령어 ↔ 기기 동작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1131" y="34747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단어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17243" y="3474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명령 코드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107131" y="34747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1403" y="3749040"/>
            <a:ext cx="3047086" cy="329184"/>
          </a:xfrm>
          <a:prstGeom prst="rect">
            <a:avLst/>
          </a:prstGeom>
          <a:solidFill>
            <a:srgbClr val="171D2A"/>
          </a:solidFill>
          <a:ln w="12700">
            <a:solidFill>
              <a:srgbClr val="171D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" y="37490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Light 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717243" y="3749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LIGHT_ON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07131" y="37490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켜기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1403" y="4133088"/>
            <a:ext cx="3047086" cy="329184"/>
          </a:xfrm>
          <a:prstGeom prst="rect">
            <a:avLst/>
          </a:prstGeom>
          <a:solidFill>
            <a:srgbClr val="171D2A"/>
          </a:solidFill>
          <a:ln w="12700">
            <a:solidFill>
              <a:srgbClr val="171D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1131" y="41330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Light off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717243" y="4133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LIGHT_OFF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107131" y="41330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끄기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11403" y="4517136"/>
            <a:ext cx="3047086" cy="329184"/>
          </a:xfrm>
          <a:prstGeom prst="rect">
            <a:avLst/>
          </a:prstGeom>
          <a:solidFill>
            <a:srgbClr val="171D2A"/>
          </a:solidFill>
          <a:ln w="12700">
            <a:solidFill>
              <a:srgbClr val="171D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1131" y="45171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717243" y="45171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LIGHT_RED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107131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11403" y="4901184"/>
            <a:ext cx="3047086" cy="329184"/>
          </a:xfrm>
          <a:prstGeom prst="rect">
            <a:avLst/>
          </a:prstGeom>
          <a:solidFill>
            <a:srgbClr val="171D2A"/>
          </a:solidFill>
          <a:ln w="12700">
            <a:solidFill>
              <a:srgbClr val="171D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1131" y="4901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717243" y="4901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LIGHT_GREEN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107131" y="4901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11403" y="5285232"/>
            <a:ext cx="3047086" cy="329184"/>
          </a:xfrm>
          <a:prstGeom prst="rect">
            <a:avLst/>
          </a:prstGeom>
          <a:solidFill>
            <a:srgbClr val="171D2A"/>
          </a:solidFill>
          <a:ln w="12700">
            <a:solidFill>
              <a:srgbClr val="171D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1131" y="52852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717243" y="52852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LIGHT_BLUE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107131" y="52852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11403" y="5760720"/>
            <a:ext cx="3047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 선택하고 음성 점수가 기준 이상일 때만 실행됩니다.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279697" y="2889504"/>
            <a:ext cx="3632302" cy="3246120"/>
          </a:xfrm>
          <a:prstGeom prst="roundRect">
            <a:avLst>
              <a:gd name="adj" fmla="val 197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305" y="3108960"/>
            <a:ext cx="30470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MQTT 토픽 · 전송 메시지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4572305" y="3529584"/>
            <a:ext cx="3047086" cy="1234440"/>
          </a:xfrm>
          <a:prstGeom prst="roundRect">
            <a:avLst>
              <a:gd name="adj" fmla="val 4444"/>
            </a:avLst>
          </a:prstGeom>
          <a:solidFill>
            <a:srgbClr val="05070C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745" y="3602736"/>
            <a:ext cx="286420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[명령] pronimo/demo-20260725/device01/cmd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[상태] pronimo/demo-20260725/device01/status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LIGHT_ON  LIGHT_OFF  LIGHT_RED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LIGHT_GREEN  LIGHT_BLUE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72305" y="5038344"/>
            <a:ext cx="118872" cy="118872"/>
          </a:xfrm>
          <a:prstGeom prst="ellipse">
            <a:avLst/>
          </a:prstGeom>
          <a:solidFill>
            <a:srgbClr val="56D4DD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83201" y="4928616"/>
            <a:ext cx="27361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명령은 코드 한 줄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4883201" y="5230368"/>
            <a:ext cx="27361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cmd 토픽 발행 → ESP32 수신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572305" y="5641848"/>
            <a:ext cx="118872" cy="118872"/>
          </a:xfrm>
          <a:prstGeom prst="ellipse">
            <a:avLst/>
          </a:prstGeom>
          <a:solidFill>
            <a:srgbClr val="56D4DD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83201" y="5532120"/>
            <a:ext cx="27361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상태는 되돌아온다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4883201" y="5833872"/>
            <a:ext cx="27361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status 토픽으로 회신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140598" y="2889504"/>
            <a:ext cx="3632302" cy="3246120"/>
          </a:xfrm>
          <a:prstGeom prst="roundRect">
            <a:avLst>
              <a:gd name="adj" fmla="val 197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33206" y="3108960"/>
            <a:ext cx="30470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백엔드 응답 · 화면 안내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8433206" y="3529584"/>
            <a:ext cx="3047086" cy="1234440"/>
          </a:xfrm>
          <a:prstGeom prst="roundRect">
            <a:avLst>
              <a:gd name="adj" fmla="val 4444"/>
            </a:avLst>
          </a:prstGeom>
          <a:solidFill>
            <a:srgbClr val="05070C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42934" y="3602736"/>
            <a:ext cx="282763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"iotTriggered":  true,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"iotActionCode": "LIGHT_GREEN",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"iotStatus":     "SENT",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"iotMessage": "IoT 명령을 전송했습니다."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433206" y="5038344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744102" y="4928616"/>
            <a:ext cx="27361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여부와 이유를 함께 반환</a:t>
            </a:r>
            <a:endParaRPr lang="en-US" sz="1250" dirty="0"/>
          </a:p>
        </p:txBody>
      </p:sp>
      <p:sp>
        <p:nvSpPr>
          <p:cNvPr id="81" name="Text 79"/>
          <p:cNvSpPr/>
          <p:nvPr/>
        </p:nvSpPr>
        <p:spPr>
          <a:xfrm>
            <a:off x="8744102" y="5230368"/>
            <a:ext cx="27361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여부 · 명령 · 전송 상태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8433206" y="5641848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744102" y="5532120"/>
            <a:ext cx="27361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종료부터 점등까지 5초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8744102" y="5833872"/>
            <a:ext cx="27361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“조명이 작동했습니다” 즉시 안내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조건 · 안전 설계 · 실물 구현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켜지지 않는다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3. IoT 구현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4663440" cy="5074920"/>
          </a:xfrm>
          <a:prstGeom prst="roundRect">
            <a:avLst>
              <a:gd name="adj" fmla="val 137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9691" y="124358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 구현</a:t>
            </a:r>
            <a:endParaRPr lang="en-US" sz="1400" dirty="0"/>
          </a:p>
        </p:txBody>
      </p:sp>
      <p:pic>
        <p:nvPicPr>
          <p:cNvPr id="11" name="Image 0" descr="/home/claude/work/media/hw_l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673" y="1664208"/>
            <a:ext cx="2721685" cy="20116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9691" y="376732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릴레이 + RGB LED 회로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9691" y="4297680"/>
            <a:ext cx="118872" cy="118872"/>
          </a:xfrm>
          <a:prstGeom prst="ellipse">
            <a:avLst/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0587" y="418795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40587" y="448970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판정과 IoT 명령 생성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9691" y="4828032"/>
            <a:ext cx="118872" cy="118872"/>
          </a:xfrm>
          <a:prstGeom prst="ellipse">
            <a:avLst/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0587" y="4718304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Broker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40587" y="502005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↔ ESP32 실시간 전달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29691" y="5358384"/>
            <a:ext cx="118872" cy="118872"/>
          </a:xfrm>
          <a:prstGeom prst="ellipse">
            <a:avLst/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0587" y="524865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· RGB LED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40587" y="5550408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수신 후 GPIO 제어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66283" y="1024128"/>
            <a:ext cx="6306617" cy="2743200"/>
          </a:xfrm>
          <a:prstGeom prst="roundRect">
            <a:avLst>
              <a:gd name="adj" fmla="val 23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95467" y="1261872"/>
            <a:ext cx="56482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조건 — 다섯 가지를 모두 만족해야 명령이 전송된다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795467" y="174650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95467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9515" y="1719072"/>
            <a:ext cx="52642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문제의 정답을 선택했는가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795467" y="2130552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95467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179515" y="2103120"/>
            <a:ext cx="52642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문제에 iotActionCode가 설정되어 있는가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795467" y="251460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95467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179515" y="2487168"/>
            <a:ext cx="52642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제출의 음성 발음 점수가 기준 이상인가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795467" y="2898648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95467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179515" y="2871216"/>
            <a:ext cx="52642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백엔드의 IOT_ENABLED 설정이 활성화되어 있는가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795467" y="3282696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95467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9515" y="3255264"/>
            <a:ext cx="52642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B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ESP32가 Wi-Fi와 MQTT Broker에 연결되어 있는가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466283" y="3950208"/>
            <a:ext cx="6306617" cy="1280160"/>
          </a:xfrm>
          <a:prstGeom prst="roundRect">
            <a:avLst>
              <a:gd name="adj" fmla="val 5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95467" y="4078224"/>
            <a:ext cx="5648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미충족 시 — 실패 이유를 상태 코드로 반환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5795467" y="4425696"/>
            <a:ext cx="5648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INCORRECT_CHOICE  ·  SCORE_TOO_LOW  ·  NOT_CONFIGURED  ·  DISABLED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795467" y="4754880"/>
            <a:ext cx="56482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“동작하지 않았다”가 아니라 “왜 동작하지 않았는지”를 반환해 교사가 원인을 즉시 판단할 수 있게 했습니다.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466283" y="5376672"/>
            <a:ext cx="6306617" cy="722376"/>
          </a:xfrm>
          <a:prstGeom prst="roundRect">
            <a:avLst>
              <a:gd name="adj" fmla="val 8861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95467" y="5468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51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설계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6947611" y="5468112"/>
            <a:ext cx="4496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GPT가 생성한 자유 텍스트는 장치를 직접 제어하지 않습니다 — 사전 등록된 allowlist 명령만 검증한 뒤 발행합니다.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097280"/>
            <a:ext cx="1783080" cy="420624"/>
          </a:xfrm>
          <a:prstGeom prst="roundRect">
            <a:avLst>
              <a:gd name="adj" fmla="val 17391"/>
            </a:avLst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0972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8795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18795" y="2615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발음 → AI 융합 분석 → 정책 판정 → MQTT → 교구 작동까지 전 과정 (3분)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8795" y="3657600"/>
            <a:ext cx="1701851" cy="1097280"/>
          </a:xfrm>
          <a:prstGeom prst="roundRect">
            <a:avLst>
              <a:gd name="adj" fmla="val 58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251" y="3803904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8251" y="4114800"/>
            <a:ext cx="12629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발음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49246" y="3657600"/>
            <a:ext cx="1701851" cy="1097280"/>
          </a:xfrm>
          <a:prstGeom prst="roundRect">
            <a:avLst>
              <a:gd name="adj" fmla="val 58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8702" y="3803904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8702" y="4114800"/>
            <a:ext cx="12629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융합 분석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9697" y="3657600"/>
            <a:ext cx="1701851" cy="1097280"/>
          </a:xfrm>
          <a:prstGeom prst="roundRect">
            <a:avLst>
              <a:gd name="adj" fmla="val 58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9153" y="3803904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9153" y="4114800"/>
            <a:ext cx="12629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판정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0148" y="3657600"/>
            <a:ext cx="1701851" cy="1097280"/>
          </a:xfrm>
          <a:prstGeom prst="roundRect">
            <a:avLst>
              <a:gd name="adj" fmla="val 58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9604" y="3803904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9604" y="4114800"/>
            <a:ext cx="12629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명령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40598" y="3657600"/>
            <a:ext cx="1701851" cy="1097280"/>
          </a:xfrm>
          <a:prstGeom prst="roundRect">
            <a:avLst>
              <a:gd name="adj" fmla="val 58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0054" y="3803904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0054" y="4114800"/>
            <a:ext cx="12629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교구 반응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71049" y="3657600"/>
            <a:ext cx="1701851" cy="1097280"/>
          </a:xfrm>
          <a:prstGeom prst="roundRect">
            <a:avLst>
              <a:gd name="adj" fmla="val 5833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90505" y="3803904"/>
            <a:ext cx="1262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90505" y="4114800"/>
            <a:ext cx="12629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회신 · 기록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8795" y="5120640"/>
            <a:ext cx="113541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시연 단어 “OPEN” — 발음이 기준을 통과하면 서보모터 모형 문이 실제로 열립니다.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시연 영상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/ 40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성과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803904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프로젝트에서 직접 설계하고 구현한 네 가지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22096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2096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융합 채점 엔진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9264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9264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한계 정량화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6432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6432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립싱크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3600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360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end-to-end 연결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4. 핵심 성과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/ 40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성과 (Key Contributions)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설계하고 구현한 네 가지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4. 핵심 성과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5471312" cy="2487168"/>
          </a:xfrm>
          <a:prstGeom prst="roundRect">
            <a:avLst>
              <a:gd name="adj" fmla="val 2574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843" y="13533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8059" y="1316736"/>
            <a:ext cx="4191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멀티모달 융합 채점 엔진 자체 설계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9419" y="2203704"/>
            <a:ext cx="128016" cy="128016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6891" y="2075688"/>
            <a:ext cx="430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75 : 입모양 25 가중 융합으로 종합 점수 산출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9419" y="2862072"/>
            <a:ext cx="128016" cy="128016"/>
          </a:xfrm>
          <a:prstGeom prst="ellipse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6891" y="2734056"/>
            <a:ext cx="430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“음성은 맞고 입모양은 틀림” 같은 불일치까지 진단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1588" y="1024128"/>
            <a:ext cx="5471312" cy="2487168"/>
          </a:xfrm>
          <a:prstGeom prst="roundRect">
            <a:avLst>
              <a:gd name="adj" fmla="val 2574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85636" y="13533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5636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70852" y="1316736"/>
            <a:ext cx="4191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한계의 정량화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22212" y="2203704"/>
            <a:ext cx="128016" cy="128016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9684" y="2075688"/>
            <a:ext cx="430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정면에서 볼 수 없는 음소를 신뢰도 값으로 모델링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22212" y="2862072"/>
            <a:ext cx="128016" cy="128016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9684" y="2734056"/>
            <a:ext cx="430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viseme 자동 제외 → 시각 점수의 신뢰 구간 확보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18795" y="3785616"/>
            <a:ext cx="5471312" cy="2487168"/>
          </a:xfrm>
          <a:prstGeom prst="roundRect">
            <a:avLst>
              <a:gd name="adj" fmla="val 2574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" y="41148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56D4DD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88059" y="4078224"/>
            <a:ext cx="4191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구강 립싱크 직접 구현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9419" y="4965192"/>
            <a:ext cx="128016" cy="128016"/>
          </a:xfrm>
          <a:prstGeom prst="ellipse">
            <a:avLst/>
          </a:prstGeom>
          <a:solidFill>
            <a:srgbClr val="56D4DD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6891" y="4837176"/>
            <a:ext cx="430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Blender 정면 · 측면 GLB와 14종 Shape Key 제작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39419" y="5623560"/>
            <a:ext cx="128016" cy="128016"/>
          </a:xfrm>
          <a:prstGeom prst="ellipse">
            <a:avLst/>
          </a:prstGeom>
          <a:solidFill>
            <a:srgbClr val="56D4DD"/>
          </a:solidFill>
          <a:ln w="12700">
            <a:solidFill>
              <a:srgbClr val="56D4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6891" y="5495544"/>
            <a:ext cx="430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smoothstep 보간으로 실시간 자연스러운 전환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301588" y="3785616"/>
            <a:ext cx="5471312" cy="2487168"/>
          </a:xfrm>
          <a:prstGeom prst="roundRect">
            <a:avLst>
              <a:gd name="adj" fmla="val 2574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85636" y="41148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85636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70852" y="4078224"/>
            <a:ext cx="4191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판정에서 실물까지 연결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722212" y="4965192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9684" y="4837176"/>
            <a:ext cx="430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엔진 · allowlist 검증 · MQTT 양방향 회신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722212" y="5623560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69684" y="5495544"/>
            <a:ext cx="430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종료부터 교구 작동까지 5초 이내 완결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803904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현장에서 무엇이 달라지고, 어디까지 확장되는가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22096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2096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9264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9264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가능성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6432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6432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3600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71D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360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5. 결론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/ 40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및 활용성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현장에서 달라지는 것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5. 결론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/ 40</a:t>
            </a:r>
            <a:endParaRPr lang="en-US" sz="1200" dirty="0"/>
          </a:p>
        </p:txBody>
      </p:sp>
      <p:pic>
        <p:nvPicPr>
          <p:cNvPr id="9" name="Image 0" descr="/home/claude/work/media/eff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811" y="1097280"/>
            <a:ext cx="3464270" cy="2377440"/>
          </a:xfrm>
          <a:prstGeom prst="rect">
            <a:avLst/>
          </a:prstGeom>
        </p:spPr>
      </p:pic>
      <p:pic>
        <p:nvPicPr>
          <p:cNvPr id="10" name="Image 1" descr="/home/claude/work/media/eff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13" y="1097280"/>
            <a:ext cx="3464270" cy="2377440"/>
          </a:xfrm>
          <a:prstGeom prst="rect">
            <a:avLst/>
          </a:prstGeom>
        </p:spPr>
      </p:pic>
      <p:pic>
        <p:nvPicPr>
          <p:cNvPr id="11" name="Image 2" descr="/home/claude/work/media/eff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614" y="1097280"/>
            <a:ext cx="3464270" cy="2377440"/>
          </a:xfrm>
          <a:prstGeom prst="rect">
            <a:avLst/>
          </a:prstGeom>
        </p:spPr>
      </p:pic>
      <p:pic>
        <p:nvPicPr>
          <p:cNvPr id="12" name="Image 3" descr="/home/claude/work/media/eff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11" y="3749040"/>
            <a:ext cx="3464270" cy="2377440"/>
          </a:xfrm>
          <a:prstGeom prst="rect">
            <a:avLst/>
          </a:prstGeom>
        </p:spPr>
      </p:pic>
      <p:pic>
        <p:nvPicPr>
          <p:cNvPr id="13" name="Image 4" descr="/home/claude/work/media/eff_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713" y="3749040"/>
            <a:ext cx="3464270" cy="2377440"/>
          </a:xfrm>
          <a:prstGeom prst="rect">
            <a:avLst/>
          </a:prstGeom>
        </p:spPr>
      </p:pic>
      <p:pic>
        <p:nvPicPr>
          <p:cNvPr id="14" name="Image 5" descr="/home/claude/work/media/eff_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4614" y="3749040"/>
            <a:ext cx="346427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" y="169164"/>
            <a:ext cx="691286" cy="370332"/>
          </a:xfrm>
          <a:prstGeom prst="roundRect">
            <a:avLst>
              <a:gd name="adj" fmla="val 246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8795" y="169164"/>
            <a:ext cx="69128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4168" y="109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가능성 · 사업화 · 향후 계획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44168" y="4846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넓힐 수 있는가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707746"/>
            <a:ext cx="12191695" cy="32918"/>
          </a:xfrm>
          <a:prstGeom prst="rect">
            <a:avLst/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795" y="649224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pronimo  ·  5. 결론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 / 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" y="1024128"/>
            <a:ext cx="3632302" cy="4114800"/>
          </a:xfrm>
          <a:prstGeom prst="roundRect">
            <a:avLst>
              <a:gd name="adj" fmla="val 176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9691" y="1298448"/>
            <a:ext cx="3010510" cy="420624"/>
          </a:xfrm>
          <a:prstGeom prst="roundRect">
            <a:avLst>
              <a:gd name="adj" fmla="val 17391"/>
            </a:avLst>
          </a:prstGeom>
          <a:solidFill>
            <a:srgbClr val="6E9BFF"/>
          </a:solidFill>
          <a:ln w="12700">
            <a:solidFill>
              <a:srgbClr val="6E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9691" y="1298448"/>
            <a:ext cx="30105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가능성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9691" y="1984248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9691" y="2295144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· 문 · 자동차에서 선풍기 · 전동 커튼 · 전자칠판까지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9691" y="3008376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9691" y="3319272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특수학급에서 일반학교 · 외국어 학원 · 체험 교육 공간까지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9691" y="4032504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9691" y="4343400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엔진을 모듈화해 일본어 · 중국어까지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79697" y="1024128"/>
            <a:ext cx="3632302" cy="4114800"/>
          </a:xfrm>
          <a:prstGeom prst="roundRect">
            <a:avLst>
              <a:gd name="adj" fmla="val 176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0593" y="1298448"/>
            <a:ext cx="3010510" cy="420624"/>
          </a:xfrm>
          <a:prstGeom prst="roundRect">
            <a:avLst>
              <a:gd name="adj" fmla="val 1739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593" y="1298448"/>
            <a:ext cx="30105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사업화 모델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90593" y="1984248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90593" y="2295144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발음 분석 + 접근성 UI + IoT 교구 + 교사 대시보드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0593" y="3008376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구조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90593" y="3319272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교구 세트 판매와 학습 콘텐츠 구독의 결합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0593" y="4032504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90593" y="4343400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음성 명령이 아닌 발음 학습과 기기 제어의 결합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40598" y="1024128"/>
            <a:ext cx="3632302" cy="4114800"/>
          </a:xfrm>
          <a:prstGeom prst="roundRect">
            <a:avLst>
              <a:gd name="adj" fmla="val 1762"/>
            </a:avLst>
          </a:prstGeom>
          <a:solidFill>
            <a:srgbClr val="1115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51494" y="1298448"/>
            <a:ext cx="3010510" cy="420624"/>
          </a:xfrm>
          <a:prstGeom prst="roundRect">
            <a:avLst>
              <a:gd name="adj" fmla="val 17391"/>
            </a:avLst>
          </a:prstGeom>
          <a:solidFill>
            <a:srgbClr val="F0A02C"/>
          </a:solidFill>
          <a:ln w="12700">
            <a:solidFill>
              <a:srgbClr val="F0A0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1494" y="1298448"/>
            <a:ext cx="30105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51494" y="1984248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451494" y="2295144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단위 취약 음소 분석과 장치 상태 모니터링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51494" y="3008376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범위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51494" y="3319272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측면 캠 · 저조도 대응으로 시각 채점 범위 확대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1494" y="4032504"/>
            <a:ext cx="301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안정성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451494" y="4343400"/>
            <a:ext cx="3010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9A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다기기 동시 제어와 네트워크 단절 시 오프라인 대응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8795" y="5349240"/>
            <a:ext cx="113541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인식만으로 기기를 켜는 서비스가 아니라, 정답 여부와 AI 발음 점수를 함께 검증한 뒤 명령을 실행하는 AIoT 교육 플랫폼입니다.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38528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따라 하는 학습에서,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254203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이해하는 학습으로.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3346704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9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이제, 발음을 몸으로 체험하는 교실로.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   ·   질의응답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5285232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세종대학교 컴퓨터공학과 5조 취업시켜조   |   조경태 · 강형민 · 정지태 · 권혁준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7C88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지도교수 한동일 · 권기학 교수   |   산업체 멘토 (주)넥스트페이퍼엠앤씨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44100" y="64922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A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/ 40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Pronimo: AIoT 영어 발음 체험 교실</dc:title>
  <dc:subject>PptxGenJS Presentation</dc:subject>
  <dc:creator>세종대학교 취업시켜조</dc:creator>
  <cp:lastModifiedBy>세종대학교 취업시켜조</cp:lastModifiedBy>
  <cp:revision>1</cp:revision>
  <dcterms:created xsi:type="dcterms:W3CDTF">2026-08-04T12:33:02Z</dcterms:created>
  <dcterms:modified xsi:type="dcterms:W3CDTF">2026-08-04T12:33:02Z</dcterms:modified>
</cp:coreProperties>
</file>